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463040"/>
            <a:ext cx="2926080" cy="411480"/>
          </a:xfrm>
          <a:prstGeom prst="roundRect">
            <a:avLst/>
          </a:prstGeom>
          <a:solidFill>
            <a:srgbClr val="102A45"/>
          </a:solidFill>
          <a:ln w="12700">
            <a:solidFill>
              <a:srgbClr val="205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AI-POWERED CAREER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 AI-Powered Career Intelligence, ATS Optimization, and Interview Mastery Platform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tech candidates with real-time multi-dimensional ATS evaluation, domain-aware career roadmapping, executive bullet rewriting, and interactive STAR interview simulations.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2560320" cy="11887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166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5440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End-to-End Tools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29000" y="5029200"/>
            <a:ext cx="2560320" cy="11887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5166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5440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Node.js + SQLite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5029200"/>
            <a:ext cx="2560320" cy="11887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5166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Heuristic Fallback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5029200"/>
            <a:ext cx="2560320" cy="11887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5166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915400" y="54406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 &amp; Zero-Trust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Revolutionizing Tech Career Trajectories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1737360"/>
            <a:ext cx="2011680" cy="320040"/>
          </a:xfrm>
          <a:prstGeom prst="roundRect">
            <a:avLst/>
          </a:prstGeom>
          <a:solidFill>
            <a:srgbClr val="102A45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Optimization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Overcoming the ATS Black Box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75% of resumes are discarded by automated Applicant Tracking Systems before a human recruiter reviews them. ResumeAI decodes keyword matching, structure, formatting, and action verbs in real-time.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737360"/>
            <a:ext cx="2011680" cy="320040"/>
          </a:xfrm>
          <a:prstGeom prst="roundRect">
            <a:avLst/>
          </a:prstGeom>
          <a:solidFill>
            <a:srgbClr val="102A4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Intelligence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1772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Dynamic Growth Roadmaps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skill gaps with market-aligned compensation analytics, 3-tier milestone progression ladders, and custom portfolio project blueprints tailored to specific engineering disciplines.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737360"/>
            <a:ext cx="2011680" cy="320040"/>
          </a:xfrm>
          <a:prstGeom prst="roundRect">
            <a:avLst/>
          </a:prstGeom>
          <a:solidFill>
            <a:srgbClr val="102A4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Bullet Rewriting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21945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💼 Executive Impact Framing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0" y="30175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Transforms passive job duty descriptions into high-conversion executive achievements using Google X-Y-Z and STAR methodologies with instant visual score comparisons.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Modern Hiring Bottleneck for Tech Professionals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301B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56032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ATS Discard Rate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Resumes are filtered out instantly due to formatting parsing errors, missing hard technical keywords, and unstandardized section headers.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301B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Sec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16916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Recruiter Scan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3317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spend an average of 6 seconds per resume. Passive descriptions ("Responsible for APIs") fail to demonstrate quantifiable business ROI.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301B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560320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Outreach Response 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cover letters and uninspiring LinkedIn messages result in poor recruiter conversion and missed high-impact opportunities.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301B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0690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55280" y="40690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Role-Specific Direction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47091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 lack visibility into salary benchmarks, key industry skill gaps, and the exact production projects required for senior elevation.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Core Feature Ecosystem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ATS Resume Analyzer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4-dimension scoring (Overall, ATS, Keywords, Impact), keyword gap visualizer, and section-by-section health checks.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Dynamic Career Roadmap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7720" y="2194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 progression ladders (AI/ML, DevOps, Frontend, Cybersecurity) with salary ranges &amp; project blueprints.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46304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1691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 AI Bullet Rewriter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0" y="219456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executive formulas (Google X-Y-Z, STAR, Leadership, Technical) with instant visual impact score gains.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✉️ Cover Letter &amp; LinkedIn Modal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5720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Tabbed in-modal editor, tone selector (Professional, Technical, Executive), live word count, and 1-click export.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384048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STAR Interview Simulator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617720" y="45720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Role-targeted Technical, Behavioral, and HR questions with interactive STAR evaluation breakdown.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955280" y="3840480"/>
            <a:ext cx="347472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4069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Enterprise Security &amp; Logs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0" y="457200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SQLite sign-in auditing, IP/User-Agent tracking, brute-force mitigation, and CSV log export.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Modern, Robust, and Resilient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CLIENT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 + Vite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Modular component architecture with type-safe state 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 Cyber-Glass UI with responsive CSS Grid &amp; Flexbox layouts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Recharts interactive analytics visualization (Pie &amp; Bar charts)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Framer Motion smooth micro-interactions &amp; Lucide vector iconography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 &amp;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Native SQLite Engine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1772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High-performance REST API with zero unnecessary runtime bloat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Persistent SQLite with WAL mode, indices, and prepared statements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bcrypt password hashing, HTTP-only secure cookie sessions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5120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Brute-force protection and comprehensive sign-in audit logger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&amp; AI ENGINE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 + Heuristic Fallback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Multi-stage prompts generating structured JSON outputs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Domain-aware heuristic engine guaranteeing 100% offline resilience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Executive bullet formula transformations with quantifiable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5120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Domain dictionary for AI/ML, DevOps, Web, Security, and Cloud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Resume Analyzer &amp; Keyword Gap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ATS Scoring Matrix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2240280"/>
            <a:ext cx="4663440" cy="77724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331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Market Readiness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891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88/100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060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index of overall candidate competitiveness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05840" y="3154680"/>
            <a:ext cx="4663440" cy="77724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 Parse Compatibility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89120" y="3246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35204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Heading recognizability, standard layout, font readability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05840" y="4069080"/>
            <a:ext cx="4663440" cy="77724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160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Keyword Coverage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89120" y="4160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4434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density against required job technologies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4983480"/>
            <a:ext cx="4663440" cy="77724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5074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Quantification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389120" y="5074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90/100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53492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of quantifiable metrics and active ownership verbs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Gap &amp; Recommendation Engine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Interactive Matched vs Missing Skills Visualizer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0840" y="25146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skill overlap dynamically against job requirements with interactive donut charts.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9224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Section-by-Section Health Status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20840" y="3429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Inspects Experience, Education, Projects, and Summary with clear status tags (Strong / Review / Missing).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92240" y="40690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Actionable Resume Fixes List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43434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Prioritized, step-by-step guidance on structural improvements, bullet phrasing, and missing credentials.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49834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  Persistent Report History &amp; Comparison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52578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reports to SQLite database for instant tracking of resume iterations and ATS score improvements.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Domain-Aware Dynamic Career Intelligence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&amp; Machine Learning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$105k – $320k+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Skills Focus: PyTorch, RAG, LoRA Fine-Tuning, vLLM Serving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 Blueprint: Autonomous Multi-Agent Research Assistant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3 Progression Milestones · Per-Role Skill Tracker · Market Demand Index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45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Frontend Engineering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0" y="16459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$80k – $225k+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0574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Skills Focus: React 19, Next.js, CRDTs (Yjs), Core Web Vitals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6060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 Blueprint: Real-Time Multiplayer Collaborative Canvas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3 Progression Milestones · Per-Role Skill Tracker · Market Demand Index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Backend Systems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06240" y="4023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$90k – $250k+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Skills Focus: Go, Kafka, Redis Caching, Saga Distributed TX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4983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 Blueprint: High-Throughput Ledger &amp; Security Proxy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5532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3 Progression Milestones · Per-Role Skill Tracker · Market Demand Index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&amp; DevOps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0" y="40233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$95k – $260k+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443484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Core Skills Focus: Kubernetes, ArgoCD GitOps, Istio Mesh, Terraform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49834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Portfolio Blueprint: Self-Healing Kubernetes Multi-Tenant Platform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5532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Includes: 3 Progression Milestones · Per-Role Skill Tracker · Market Demand Index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Bullet Rewriter with 4 Impact Formulas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10698480" cy="13716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0020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(Score: 48/100 · Weak / Passive):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82880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"Responsible for maintaining backend APIs, fixing bugs, and improving database speed."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48840"/>
            <a:ext cx="10149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(Score: 94/100 · Executive / High-Impact):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377440"/>
            <a:ext cx="10149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"Architected distributed caching layer across 14 microservices using Redis and Go, slashing p99 latency from 180ms to 42ms and scaling throughput by 3.2x for 2.5M daily active users."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2560320" cy="30175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X-Y-Z Formula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Accomplished [X], as measured by [Y], by doing [Z]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5303520"/>
            <a:ext cx="2194560" cy="45720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Gain: +46 pts delta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3017520"/>
            <a:ext cx="2560320" cy="30175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Metric Method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37947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Situation, Task, Action, and Quantifiable Result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5303520"/>
            <a:ext cx="2194560" cy="45720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Gain: +42 pts delta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017520"/>
            <a:ext cx="2560320" cy="30175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High-Velocity Leadership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37947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alignment &amp; organizational velocity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5303520"/>
            <a:ext cx="2194560" cy="45720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Gain: +40 pts delta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823960" y="3017520"/>
            <a:ext cx="2560320" cy="301752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06840" y="3200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Depth &amp; Scale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006840" y="3794760"/>
            <a:ext cx="2194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high-concurrency, and reliability focus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006840" y="5303520"/>
            <a:ext cx="2194560" cy="45720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0684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Gain: +44 pts delta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Outreach Generator: Cover Letters &amp; LinkedIn Pitch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Tailored Cover Letter Engine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Synthesizes resume strengths and job description gaps into a compelling 3-4 paragraph narrative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Includes role-specific achievements and strategic company alignment hooks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in-modal text editor with real-time word and character counters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High-Conversion LinkedIn Pitch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68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Short, highly targeted cold outreach messages optimized for recruiter response rates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character length indicator (&lt;300 char connection note limit guidance)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Polite, professional call-to-action designed for 10-minute introductory chats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1737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🎭 Multi-Tone Adaptation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0" y="2468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Professional &amp; Impactful: Balanced standard business polish for corporate roles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36576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Direct &amp; Technical: Architecture &amp; metric-heavy focus for engineering leads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Executive &amp; Leadership: Strategic business ROI and team velocity perspective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Interview Simulator &amp; Enterprise Security Audit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STAR Interview Simulator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05840" y="2240280"/>
            <a:ext cx="4663440" cy="73152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2377440"/>
            <a:ext cx="457200" cy="457200"/>
          </a:xfrm>
          <a:prstGeom prst="rect">
            <a:avLst/>
          </a:prstGeom>
          <a:solidFill>
            <a:srgbClr val="4FE4F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7360" y="2331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737360" y="2587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background context and business environment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005840" y="3108960"/>
            <a:ext cx="4663440" cy="73152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3246120"/>
            <a:ext cx="457200" cy="457200"/>
          </a:xfrm>
          <a:prstGeom prst="rect">
            <a:avLst/>
          </a:prstGeom>
          <a:solidFill>
            <a:srgbClr val="4FE4F7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45643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the core technical objective or challenge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3977640"/>
            <a:ext cx="4663440" cy="73152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43000" y="4114800"/>
            <a:ext cx="457200" cy="457200"/>
          </a:xfrm>
          <a:prstGeom prst="rect">
            <a:avLst/>
          </a:prstGeom>
          <a:solidFill>
            <a:srgbClr val="4FE4F7"/>
          </a:solidFill>
          <a:ln/>
        </p:spPr>
      </p:sp>
      <p:sp>
        <p:nvSpPr>
          <p:cNvPr id="20" name="Text 18"/>
          <p:cNvSpPr/>
          <p:nvPr/>
        </p:nvSpPr>
        <p:spPr>
          <a:xfrm>
            <a:off x="11430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37360" y="4069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325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personal ownership and technical execution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05840" y="4846320"/>
            <a:ext cx="4663440" cy="731520"/>
          </a:xfrm>
          <a:prstGeom prst="roundRect">
            <a:avLst/>
          </a:prstGeom>
          <a:solidFill>
            <a:srgbClr val="051221"/>
          </a:solidFill>
          <a:ln w="12700">
            <a:solidFill>
              <a:srgbClr val="1C385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43000" y="4983480"/>
            <a:ext cx="457200" cy="457200"/>
          </a:xfrm>
          <a:prstGeom prst="rect">
            <a:avLst/>
          </a:prstGeom>
          <a:solidFill>
            <a:srgbClr val="4FE4F7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37360" y="4937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737360" y="51937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 measurable metrics, % gains, and outcomes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1737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Enterprise Security &amp; Access Logs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92240" y="2240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Full Access History in SQLite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20840" y="2514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 signups, successful logins, and failed attempts with IP address, user agent, and timestamp.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108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Brute-Force Attack Mitigation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20840" y="338328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failed authentication attempts with reason codes and rate limiting defense.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9776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In-App Security Audit Viewer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20840" y="42519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security modal displaying live authentication activity with instant CSV export.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8463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Privacy-First Architecture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5120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resume data stays inside user-controlled SQLite database with zero third-party data selling.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ADVANTAGE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ResumeAI Outperforms Generic Tools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Offline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01752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Zero-Downtime Resilience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with comprehensive heuristic fallbacks. Never crashes even if OpenAI API is unavailable or rate-limited.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6-in-1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412480" y="1691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Career Suite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ATS parser, career roadmap, rewriter, outreach generator, interview practice, and audit logging in one seamless UI.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Lock-in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1752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&amp; Private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05840" y="4617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or in private cloud with zero mandatory subscription fees or proprietary cloud vendor lock-ins.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840480"/>
            <a:ext cx="5212080" cy="214884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500ms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12480" y="4069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Performance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461772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Vite/React client and zero-dependency native Node.js SQLite server delivering instantaneous response times.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HORIZON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Product Roadmap &amp; Innovations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65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· Next-Gen AI Career Intelligence Platform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(Current)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Platform &amp; AI Foundation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ATS scoring &amp; keyword gap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career roadmaps &amp; compensation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Executive bullet rewriter &amp; STAR generator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512064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Audit access logs &amp; SQLite persistence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(Upcoming)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Intelligence &amp; Automation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61772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Multi-Agent debate panel (Recruiter vs Hiring Manager vs ATS parser)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1-click Chrome extension for LinkedIn job matching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PDF generation with ATS-safe vector typography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55280" y="1463040"/>
            <a:ext cx="3474720" cy="45720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16916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(Vision)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0" y="19659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Autonomous Career Companion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0" y="26517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voice &amp; video mock interview simulation with speech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47472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Automated job application tracking &amp; CRM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0" y="429768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Personalized continuous career mentor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E4F7"/>
          </a:solidFill>
          <a:ln w="12700">
            <a:solidFill>
              <a:srgbClr val="4FE4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280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the Next Generation of Tech Talent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ResumeAI closes the divide between talented engineers and high-impact careers by providing an end-to-end intelligence platform that transforms resumes, accelerates skill growth, and sharpens interview mastery.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3474720" cy="13716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Aditya-cmd-16/Resume_Main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3657600"/>
            <a:ext cx="3474720" cy="13716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STATUS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17720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&amp; Tested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3657600"/>
            <a:ext cx="3474720" cy="1371600"/>
          </a:xfrm>
          <a:prstGeom prst="roundRect">
            <a:avLst/>
          </a:prstGeom>
          <a:solidFill>
            <a:srgbClr val="0A1E33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3886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B0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0" y="4160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Node + SQLite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E4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Open for Questions &amp; Live Demonstration.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ResumeAI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ResumeAI - Next-Gen AI Career &amp; Resume Intelligence Platform</dc:title>
  <dc:subject>ResumeAI Project Presentation</dc:subject>
  <dc:creator>Aditya Sehgal</dc:creator>
  <cp:lastModifiedBy>Aditya Sehgal</cp:lastModifiedBy>
  <cp:revision>1</cp:revision>
  <dcterms:created xsi:type="dcterms:W3CDTF">2026-08-21T17:08:54Z</dcterms:created>
  <dcterms:modified xsi:type="dcterms:W3CDTF">2026-08-21T17:08:54Z</dcterms:modified>
</cp:coreProperties>
</file>